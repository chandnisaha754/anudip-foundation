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5143500" type="screen16x9"/>
  <p:notesSz cx="5143500" cy="9144000"/>
  <p:embeddedFontLst>
    <p:embeddedFont>
      <p:font typeface="Barlow" panose="00000500000000000000" pitchFamily="2" charset="0"/>
      <p:regular r:id="rId62"/>
    </p:embeddedFont>
    <p:embeddedFont>
      <p:font typeface="Barlow Bold" panose="00000800000000000000" charset="0"/>
      <p:regular r:id="rId63"/>
    </p:embeddedFont>
    <p:embeddedFont>
      <p:font typeface="Inter" panose="020B0604020202020204" charset="0"/>
      <p:regular r:id="rId64"/>
    </p:embeddedFont>
    <p:embeddedFont>
      <p:font typeface="Inter Bold" panose="020B0604020202020204" charset="0"/>
      <p:regular r:id="rId65"/>
    </p:embeddedFont>
    <p:embeddedFont>
      <p:font typeface="Spline Sans Bold" panose="020B0604020202020204" charset="0"/>
      <p:regular r:id="rId6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0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29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70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14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6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11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46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49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99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17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71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557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277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94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708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620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005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41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882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735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338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727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610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626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773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840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652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182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048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016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788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6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093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596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250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410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163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517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718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814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257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500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154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855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328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29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5211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307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107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3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svg"/><Relationship Id="rId4" Type="http://schemas.openxmlformats.org/officeDocument/2006/relationships/image" Target="../media/image74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svg"/><Relationship Id="rId5" Type="http://schemas.openxmlformats.org/officeDocument/2006/relationships/image" Target="../media/image78.svg"/><Relationship Id="rId4" Type="http://schemas.openxmlformats.org/officeDocument/2006/relationships/image" Target="../media/image77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jpeg"/><Relationship Id="rId5" Type="http://schemas.openxmlformats.org/officeDocument/2006/relationships/image" Target="../media/image84.jpeg"/><Relationship Id="rId4" Type="http://schemas.openxmlformats.org/officeDocument/2006/relationships/image" Target="../media/image83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svg"/><Relationship Id="rId5" Type="http://schemas.openxmlformats.org/officeDocument/2006/relationships/image" Target="../media/image96.svg"/><Relationship Id="rId4" Type="http://schemas.openxmlformats.org/officeDocument/2006/relationships/image" Target="../media/image95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7" Type="http://schemas.openxmlformats.org/officeDocument/2006/relationships/image" Target="../media/image102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svg"/><Relationship Id="rId5" Type="http://schemas.openxmlformats.org/officeDocument/2006/relationships/image" Target="../media/image100.svg"/><Relationship Id="rId4" Type="http://schemas.openxmlformats.org/officeDocument/2006/relationships/image" Target="../media/image99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svg"/><Relationship Id="rId5" Type="http://schemas.openxmlformats.org/officeDocument/2006/relationships/image" Target="../media/image105.svg"/><Relationship Id="rId4" Type="http://schemas.openxmlformats.org/officeDocument/2006/relationships/image" Target="../media/image104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svg"/><Relationship Id="rId4" Type="http://schemas.openxmlformats.org/officeDocument/2006/relationships/image" Target="../media/image108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IT and Business Systems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foundational overview of how information technology powers modern business operations — from core concepts to strategic alignment.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33316"/>
            <a:ext cx="1232743" cy="215354"/>
          </a:xfrm>
          <a:prstGeom prst="roundRect">
            <a:avLst>
              <a:gd name="adj" fmla="val 22119"/>
            </a:avLst>
          </a:prstGeom>
          <a:solidFill>
            <a:srgbClr val="0A004D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475806"/>
            <a:ext cx="15198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FUNDAMENTALS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99704" y="3433316"/>
            <a:ext cx="130075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84759" y="3475806"/>
            <a:ext cx="158784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SYSTEMS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171304" y="3433316"/>
            <a:ext cx="75716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56359" y="3475806"/>
            <a:ext cx="104425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0421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Course Overview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11485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We'll Cover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80416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course walks through four key areas that every IT and business professional should understand.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19045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412355"/>
            <a:ext cx="4004965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52129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Fundamentals of 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827809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concepts, hardware, software, and networks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42842" y="219045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2842" y="2412355"/>
            <a:ext cx="4005039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1" name="Text 9"/>
          <p:cNvSpPr/>
          <p:nvPr/>
        </p:nvSpPr>
        <p:spPr>
          <a:xfrm>
            <a:off x="4642842" y="2521297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 in Business Operations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2842" y="2827809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technology drives efficiency and decision-making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330264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524548"/>
            <a:ext cx="4004965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363349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Systems Overview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6119" y="3940001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ERP, CRM, and other enterprise platforms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2842" y="330264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524548"/>
            <a:ext cx="4005039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9" name="Text 17"/>
          <p:cNvSpPr/>
          <p:nvPr/>
        </p:nvSpPr>
        <p:spPr>
          <a:xfrm>
            <a:off x="4642842" y="363349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 &amp; Business Strategy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42842" y="3940001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Aligning technology with organizational goals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2122"/>
            <a:ext cx="472276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A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3925119" y="699864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Fundamentals of Information Technology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925119" y="1757660"/>
            <a:ext cx="472276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Technology refers to the use of computers, networks, and software to store, retrieve, transmit, and manipulate data. IT is the backbone of modern communication and business infrastructure.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925119" y="2556272"/>
            <a:ext cx="2294855" cy="1227386"/>
          </a:xfrm>
          <a:prstGeom prst="roundRect">
            <a:avLst>
              <a:gd name="adj" fmla="val 4700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67175" y="2698328"/>
            <a:ext cx="20107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Hardware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67175" y="2992636"/>
            <a:ext cx="20107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devices — servers, PCs, routers, and storage systems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2952" y="2556272"/>
            <a:ext cx="2294930" cy="1227386"/>
          </a:xfrm>
          <a:prstGeom prst="roundRect">
            <a:avLst>
              <a:gd name="adj" fmla="val 4700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5008" y="2698328"/>
            <a:ext cx="201081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95008" y="2992636"/>
            <a:ext cx="201081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and operating systems that run on hardware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25119" y="3916635"/>
            <a:ext cx="4722763" cy="794742"/>
          </a:xfrm>
          <a:prstGeom prst="roundRect">
            <a:avLst>
              <a:gd name="adj" fmla="val 7258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67175" y="4058692"/>
            <a:ext cx="443865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67175" y="4352999"/>
            <a:ext cx="443865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LAN, WAN, and the internet connecting systems globally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989"/>
            <a:ext cx="8151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A — Continued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96119" y="613693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IT Concepts Every Professional Should Know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40805"/>
            <a:ext cx="5205933" cy="292826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1580" y="1170980"/>
            <a:ext cx="2680990" cy="8047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51513" y="1293763"/>
            <a:ext cx="237827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&amp; Databases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151513" y="1546324"/>
            <a:ext cx="237827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storage and retrieval of business information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1580" y="2058739"/>
            <a:ext cx="2680990" cy="8047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51513" y="2181523"/>
            <a:ext cx="237827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Computing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151513" y="2434084"/>
            <a:ext cx="237827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On-demand access to computing resources over the internet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1580" y="2946499"/>
            <a:ext cx="2680990" cy="8047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51513" y="3069282"/>
            <a:ext cx="237827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Cybersecurity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6151513" y="3321844"/>
            <a:ext cx="237827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systems, networks, and data from digital threats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1580" y="3834259"/>
            <a:ext cx="2680990" cy="8047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51513" y="3957042"/>
            <a:ext cx="237827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151513" y="4209604"/>
            <a:ext cx="237827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technology to reduce manual effort and errors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43124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B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96119" y="182128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 of IT in Business Operations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91985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no longer just a support function — it is a strategic driver of productivity, customer experience, and competitive advantage across every department.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143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B — Continued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94959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IT Transforms Business Functions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05186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136725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Operations &amp; Efficiency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443237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workflows and real-time data reduce costs and speed up processes.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605186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136725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Communication &amp; Collaboration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443237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Email, video conferencing, and shared platforms connect teams across locations.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80383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711922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Experience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018434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channels, personalization, and support tools improve customer satisfaction.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180383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711922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&amp; Compliance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018434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systems enforce data governance, audit trails, and regulatory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C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96119" y="51472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Overview of Business Systems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789310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systems are integrated software platforms that manage core organizational processes. Two of the most critical are </a:t>
            </a:r>
            <a:r>
              <a:rPr lang="en-US" sz="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ERP</a:t>
            </a: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CRM</a:t>
            </a: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53988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70152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ERP — Enterprise Resource Planning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847677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Centralizes internal operations — finance, HR, inventory, and production — into a single unified system.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3232" y="296815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CRM — Customer Relationship Management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663232" y="3114303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every customer interaction, automates sales pipelines, and improves retention through data-driven insights.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74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C — Continued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9190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Other Key Business Systems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496119" y="1347490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" y="1494011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610916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06104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Accounting &amp; Finance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367558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like QuickBooks and SAP handle invoicing, payroll, and financial reporting.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2842" y="1347490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89363" y="1494011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610916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9363" y="206104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Supply Chain Management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89363" y="2367558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procurement, logistics, and inventory across the value chain.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6119" y="3109466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2640" y="3255987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372892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640" y="382302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HR Management Systems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2640" y="4129534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Streamlines recruitment, onboarding, performance reviews, and benefits.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42842" y="3109466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89363" y="3255987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372892"/>
            <a:ext cx="191319" cy="1913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89363" y="382302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Intelligence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89363" y="4129534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raw data into actionable insights through dashboards and reports.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1687"/>
            <a:ext cx="47227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D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96119" y="653951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Interplay Between IT and Business Strategy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496119" y="1651397"/>
            <a:ext cx="47227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successful organizations treat IT not as a cost center, but as a </a:t>
            </a: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partner</a:t>
            </a: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Technology decisions must align with business goals to drive real value.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389436"/>
            <a:ext cx="653430" cy="7841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25" y="2520107"/>
            <a:ext cx="394885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Goals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270025" y="2796480"/>
            <a:ext cx="394885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objectives, market position, and growth targets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173537"/>
            <a:ext cx="653430" cy="7841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0025" y="3304208"/>
            <a:ext cx="394885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 Strategy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1270025" y="3580581"/>
            <a:ext cx="394885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technologies that enable and accelerate those goals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957637"/>
            <a:ext cx="653430" cy="7841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70025" y="4088309"/>
            <a:ext cx="394885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1270025" y="4364682"/>
            <a:ext cx="394885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systems, train teams, and measure outcomes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179"/>
            <a:ext cx="815176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670396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Bringing It All Together</a:t>
            </a:r>
            <a:endParaRPr lang="en-US" sz="2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33562"/>
            <a:ext cx="4019624" cy="12920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30140" y="1328217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6612" y="1738536"/>
            <a:ext cx="373863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 Is Foundational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6612" y="2003227"/>
            <a:ext cx="373863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Hardware, software, networks, and data form the infrastructure of every modern business.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8183" y="1233562"/>
            <a:ext cx="4019699" cy="12920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2279" y="1328217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768676" y="1738536"/>
            <a:ext cx="373871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 Drives Operations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68676" y="2003227"/>
            <a:ext cx="373871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communication to customer experience, technology improves efficiency at every level.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638053"/>
            <a:ext cx="4019624" cy="12920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30140" y="2732708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36612" y="3143027"/>
            <a:ext cx="373863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Systems Connect Everything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6612" y="3407718"/>
            <a:ext cx="373863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ERP, CRM, and other platforms integrate processes into a cohesive operational whole.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8183" y="2638053"/>
            <a:ext cx="4019699" cy="129205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62279" y="2732708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768676" y="3143027"/>
            <a:ext cx="373871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Strategy Must Lead Technology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68676" y="3407718"/>
            <a:ext cx="373871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investments deliver the most value when aligned with clear business objectives.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96119" y="4056608"/>
            <a:ext cx="8151763" cy="658639"/>
          </a:xfrm>
          <a:prstGeom prst="roundRect">
            <a:avLst>
              <a:gd name="adj" fmla="val 8051"/>
            </a:avLst>
          </a:prstGeom>
          <a:solidFill>
            <a:srgbClr val="11008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25" y="4232523"/>
            <a:ext cx="157758" cy="1262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6289" y="4200599"/>
            <a:ext cx="761538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steps: Explore each module in depth, practice with real-world tools, and consider how these concepts apply to your own organization.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 of Data: Types, Sources &amp; Lifecycle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foundational guide to understanding how data is classified, collected, managed, and maintained — the backbone of modern information systems.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46736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74787"/>
            <a:ext cx="779934" cy="215354"/>
          </a:xfrm>
          <a:prstGeom prst="roundRect">
            <a:avLst>
              <a:gd name="adj" fmla="val 22119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317278"/>
            <a:ext cx="106702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4684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Data Types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20243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comes in many forms. Recognizing the structure of data determines how it's stored, processed, and analyzed.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588716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640" y="2735238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3041749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Organized in fixed rows and columns — think spreadsheets and relational databases.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588716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7122" y="2735238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Unstructured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7122" y="3041749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predefined format — includes images, videos, emails, and social media posts.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588716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1605" y="2735238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Semi-Structured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71605" y="3041749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Self-describing tags without rigid schema — JSON, XML, and HTML files.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3574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vs. Unstructured vs. Semi-Structured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4331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95190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type of data you work with directly shapes your tools and approach.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17602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</a:t>
            </a: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is fast to query but rigid in format.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Unstructured</a:t>
            </a: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is rich in insight but requires advanced processing like NLP or computer vision.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Semi-structured</a:t>
            </a: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offers flexibility, bridging both worlds for modern applications.</a:t>
            </a:r>
            <a:endParaRPr lang="en-US" sz="550" dirty="0"/>
          </a:p>
        </p:txBody>
      </p:sp>
    </p:spTree>
    <p:extLst>
      <p:ext uri="{BB962C8B-B14F-4D97-AF65-F5344CB8AC3E}">
        <p14:creationId xmlns:p14="http://schemas.microsoft.com/office/powerpoint/2010/main" val="2815627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767706"/>
            <a:ext cx="802928" cy="215354"/>
          </a:xfrm>
          <a:prstGeom prst="roundRect">
            <a:avLst>
              <a:gd name="adj" fmla="val 22119"/>
            </a:avLst>
          </a:prstGeom>
          <a:solidFill>
            <a:srgbClr val="0A004D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810196"/>
            <a:ext cx="109001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03976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Common Data Sources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69535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gather data from a wide range of origins. Understanding where data comes from is the first step to managing it effectively.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45906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81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vs. External Data Sources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454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Sources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0869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within the organization's own systems and operations.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88987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Transactional databases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sales, orders, inventory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HR systems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employee records, payroll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CRM platforms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customer interactions and history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 files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system and application 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9454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External Sources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30869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Acquired from outside the organization to enrich internal data.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88987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APIs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real-time data feeds from third-party services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Public datasets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government, research, open data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Social media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sentiment, trends, user behavior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 scraping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competitor pricing, market data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39463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7314"/>
            <a:ext cx="791542" cy="212006"/>
          </a:xfrm>
          <a:prstGeom prst="roundRect">
            <a:avLst>
              <a:gd name="adj" fmla="val 22117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459135"/>
            <a:ext cx="1081311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84237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 Methods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6119" y="1326356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data is gathered determines its accuracy, volume, and usability. Modern systems use a mix of automated and manual approaches.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23752"/>
            <a:ext cx="348853" cy="3488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444279"/>
            <a:ext cx="399000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Surveys &amp; Forms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2744688"/>
            <a:ext cx="399000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questionnaires that capture direct user input, preferences, and feedback.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799" y="1923752"/>
            <a:ext cx="348853" cy="3488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57799" y="2444279"/>
            <a:ext cx="39900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Sensors &amp; IoT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57799" y="2744688"/>
            <a:ext cx="399008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devices that continuously record physical data — temperature, location, motion.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462337"/>
            <a:ext cx="348853" cy="3488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6119" y="3982864"/>
            <a:ext cx="399000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 Analytics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6119" y="4283273"/>
            <a:ext cx="399000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user behavior on websites and apps through cookies, tags, and event logging.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7799" y="3462337"/>
            <a:ext cx="348853" cy="34885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57799" y="3982864"/>
            <a:ext cx="39900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APIs &amp; Integrations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657799" y="4283273"/>
            <a:ext cx="399008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Programmatic connections that pull data from external platforms in real time.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88349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546175"/>
            <a:ext cx="807021" cy="215354"/>
          </a:xfrm>
          <a:prstGeom prst="roundRect">
            <a:avLst>
              <a:gd name="adj" fmla="val 22119"/>
            </a:avLst>
          </a:prstGeom>
          <a:solidFill>
            <a:srgbClr val="0A004D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588666"/>
            <a:ext cx="109411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81823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Lifecycle Management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91680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piece of data follows a journey — from creation to deletion. Managing each stage ensures data remains valuable, secure, and compliant.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1274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535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Five Stages of the Data Lifecycle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81882"/>
            <a:ext cx="24366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788393"/>
            <a:ext cx="2436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generated or captured at the source.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408" y="1201862"/>
            <a:ext cx="2853110" cy="285311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0933" y="1805136"/>
            <a:ext cx="212080" cy="212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1119" y="1226418"/>
            <a:ext cx="2436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211119" y="1532930"/>
            <a:ext cx="2436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saved in databases, data lakes, or warehouses.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408" y="1201862"/>
            <a:ext cx="2853110" cy="285311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3131" y="1639714"/>
            <a:ext cx="212080" cy="2120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2035" y="2248272"/>
            <a:ext cx="23658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Usage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282035" y="2554784"/>
            <a:ext cx="23658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processed, analyzed, and applied to decisions.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5408" y="1201862"/>
            <a:ext cx="2853110" cy="285311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49639" y="2693938"/>
            <a:ext cx="212080" cy="2120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211119" y="3270200"/>
            <a:ext cx="2436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Archiving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6211119" y="3576712"/>
            <a:ext cx="2436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Inactive data is moved to long-term, low-cost storage.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408" y="1201862"/>
            <a:ext cx="2853110" cy="285311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6603" y="3510855"/>
            <a:ext cx="212080" cy="21208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96119" y="3014737"/>
            <a:ext cx="24366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Deletion</a:t>
            </a:r>
            <a:endParaRPr lang="en-US" sz="1350" dirty="0"/>
          </a:p>
        </p:txBody>
      </p:sp>
      <p:sp>
        <p:nvSpPr>
          <p:cNvPr id="20" name="Text 10"/>
          <p:cNvSpPr/>
          <p:nvPr/>
        </p:nvSpPr>
        <p:spPr>
          <a:xfrm>
            <a:off x="496119" y="3321248"/>
            <a:ext cx="2436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securely erased when no longer needed or required by law.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5408" y="1201862"/>
            <a:ext cx="2853110" cy="2853110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69122" y="2961605"/>
            <a:ext cx="212080" cy="21208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96119" y="421444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lifecycle management reduces storage costs, ensures regulatory compliance (e.g., GDPR), and keeps active data clean and accessible.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18156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0021"/>
            <a:ext cx="525512" cy="141387"/>
          </a:xfrm>
          <a:prstGeom prst="roundRect">
            <a:avLst>
              <a:gd name="adj" fmla="val 22109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551929" y="437927"/>
            <a:ext cx="871091" cy="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5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75816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Quality &amp; Integrity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6119" y="2103462"/>
            <a:ext cx="270554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Data Quality?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6119" y="2309813"/>
            <a:ext cx="2705546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measures how well data serves its intended purpose. Poor data leads to flawed decisions, wasted resources, and compliance risks.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96119" y="2740521"/>
            <a:ext cx="270554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Dimensions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390" y="1026765"/>
            <a:ext cx="5219179" cy="2935784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099917"/>
            <a:ext cx="1992139" cy="6334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6761" y="4202460"/>
            <a:ext cx="174895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36761" y="4384402"/>
            <a:ext cx="174895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correctly reflects real-world values.</a:t>
            </a:r>
            <a:endParaRPr lang="en-US" sz="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9277" y="4099917"/>
            <a:ext cx="1992213" cy="6334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89920" y="4202460"/>
            <a:ext cx="174902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Completeness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2689920" y="4384402"/>
            <a:ext cx="174902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critical fields are missing.</a:t>
            </a:r>
            <a:endParaRPr lang="en-US" sz="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2510" y="4099917"/>
            <a:ext cx="1992139" cy="6334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43152" y="4202460"/>
            <a:ext cx="174895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743152" y="4384402"/>
            <a:ext cx="1748954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matches across all systems.</a:t>
            </a:r>
            <a:endParaRPr lang="en-US" sz="7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5668" y="4099917"/>
            <a:ext cx="1992213" cy="63348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96311" y="4202460"/>
            <a:ext cx="174902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Timeliness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796311" y="4384402"/>
            <a:ext cx="174902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up-to-date when needed.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861391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138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7788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strong foundation in data fundamentals empowers better decisions across every role in an organization.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6417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9287" y="20907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6816" y="2112838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 Your Data Type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56816" y="2419350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Structured, unstructured, and semi-structured data each require different tools and strategies.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0553" y="206417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3722" y="20907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121250" y="2112838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 Your Sources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1250" y="2419350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and external sources — including APIs and sensors — feed your data ecosystem.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15649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287" y="318306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6816" y="3205163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 the Full Lifecycle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6816" y="3511674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creation to deletion, every stage requires governance, security, and compliance.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0553" y="315649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3722" y="318306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121250" y="3205163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Prioritize Data Quality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21250" y="3511674"/>
            <a:ext cx="352663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Accurate, complete, and timely data is the foundation of trustworthy analysis and business outcomes.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62255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the Business Analyst Role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foundational guide to understanding what Business Analysts do, the skills they need, the methodologies they use, and how they manage stakeholders to drive business success.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33316"/>
            <a:ext cx="1232743" cy="215354"/>
          </a:xfrm>
          <a:prstGeom prst="roundRect">
            <a:avLst>
              <a:gd name="adj" fmla="val 22119"/>
            </a:avLst>
          </a:prstGeom>
          <a:solidFill>
            <a:srgbClr val="0A004D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75806"/>
            <a:ext cx="15198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FUNDAMENTALS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228704" y="3433316"/>
            <a:ext cx="1317427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13759" y="3475806"/>
            <a:ext cx="16045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ANALYSIS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922464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3526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We'll Cover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13416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Course Overview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99727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219176"/>
            <a:ext cx="4004965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328118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 &amp; Responsibilities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634630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Business Analyst is and what they 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42842" y="199727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219176"/>
            <a:ext cx="4005039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0" name="Text 8"/>
          <p:cNvSpPr/>
          <p:nvPr/>
        </p:nvSpPr>
        <p:spPr>
          <a:xfrm>
            <a:off x="4642842" y="2328118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Skills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2842" y="2634630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Communication, analytical thinking, and problem-solving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0946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331369"/>
            <a:ext cx="4004965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440311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Methodologies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74682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Agile, Waterfall, and other frameworks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2842" y="310946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331369"/>
            <a:ext cx="4005039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3440311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Stakeholder Management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2842" y="3746822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Engaging and aligning key project stakeholders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91205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39688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A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3925119" y="111784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 Business Analyst?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21642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Analyst (BA)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professional who acts as a bridge between business stakeholders and technical teams. They analyze business processes, identify problems, and recommend solutions that align with organizational goals.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283148"/>
            <a:ext cx="4722763" cy="1020589"/>
          </a:xfrm>
          <a:prstGeom prst="roundRect">
            <a:avLst>
              <a:gd name="adj" fmla="val 5834"/>
            </a:avLst>
          </a:prstGeom>
          <a:solidFill>
            <a:srgbClr val="11008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77" y="348391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5816" y="3460328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 don't just document requirements — they shape the direction of projects and help organizations make smarter, data-driven decisions.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70480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74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A — Responsibilities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9190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Responsibilities of a Business Analyst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496119" y="1347490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" y="1494011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610916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06104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 Gathering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367558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stakeholders and document what the business truly needs from a project or system.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2842" y="1347490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89363" y="1494011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610916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9363" y="206104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 Analysis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89363" y="2367558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existing workflows, identify inefficiencies, and propose improvements.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6119" y="3109466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2640" y="3255987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372892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640" y="382302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 Design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2640" y="4129534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business needs into clear, actionable technical specifications.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42842" y="3109466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89363" y="3255987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372892"/>
            <a:ext cx="191319" cy="1913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89363" y="382302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Stakeholder Liaison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89363" y="4129534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 communication between business units and development teams.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13743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466"/>
            <a:ext cx="8151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B — Skills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96119" y="669652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Skills Every Business Analyst Needs</a:t>
            </a:r>
            <a:endParaRPr lang="en-US" sz="2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86346"/>
            <a:ext cx="5196483" cy="292298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9216" y="1308274"/>
            <a:ext cx="2663354" cy="10845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80237" y="1442145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180237" y="1729904"/>
            <a:ext cx="2338462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Clearly articulate requirements in writing and verbally to both technical and non-technical audiences.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9216" y="2493764"/>
            <a:ext cx="2663354" cy="9082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80237" y="2627635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Analytical Thinking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6180237" y="2915394"/>
            <a:ext cx="233846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down complex problems, interpret data, and draw meaningful conclusions.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9216" y="3502893"/>
            <a:ext cx="2663354" cy="10845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80237" y="3636764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Problem-Solving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6180237" y="3924523"/>
            <a:ext cx="2338462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root causes and develop practical, scalable solutions under constraints.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31943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B — Skills in Action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96119" y="51472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These Skills Come Together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224" y="789310"/>
            <a:ext cx="4603552" cy="4342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12195" y="3499058"/>
            <a:ext cx="14614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Listen &amp; Understand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12195" y="4022805"/>
            <a:ext cx="1461448" cy="41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stakeholder needs through active listening.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12676" y="1424959"/>
            <a:ext cx="1461447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 &amp; Document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12676" y="1948706"/>
            <a:ext cx="1461447" cy="55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requirements clearly for shared understanding.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978243" y="3499058"/>
            <a:ext cx="1461447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 &amp; Deliver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78243" y="4022805"/>
            <a:ext cx="1461447" cy="41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 solutions and validate outcomes iteratively.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6119" y="5171777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 BAs don't rely on one skill in isolation — they blend communication, analysis, and problem-solving into a continuous cycle that drives project success from start to finish.</a:t>
            </a:r>
            <a:endParaRPr lang="en-US" sz="550" dirty="0"/>
          </a:p>
        </p:txBody>
      </p:sp>
    </p:spTree>
    <p:extLst>
      <p:ext uri="{BB962C8B-B14F-4D97-AF65-F5344CB8AC3E}">
        <p14:creationId xmlns:p14="http://schemas.microsoft.com/office/powerpoint/2010/main" val="1927549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9649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C — Methodologies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96119" y="68780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Agile Methodology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343397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Agile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an iterative approach where requirements and solutions evolve through collaboration between self-organizing, cross-functional teams. BAs in Agile environments work in short cycles called </a:t>
            </a: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sprints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continuously refining the product backlog and adapting to change.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636937"/>
            <a:ext cx="4722763" cy="2096839"/>
          </a:xfrm>
          <a:prstGeom prst="roundRect">
            <a:avLst>
              <a:gd name="adj" fmla="val 2840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0881" y="2641699"/>
            <a:ext cx="4713238" cy="1043657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8" name="Text 5"/>
          <p:cNvSpPr/>
          <p:nvPr/>
        </p:nvSpPr>
        <p:spPr>
          <a:xfrm>
            <a:off x="642640" y="2783458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Scrum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2640" y="3089970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Fixed-length sprints with defined roles (BA, Product Owner, Scrum Master)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0881" y="3685356"/>
            <a:ext cx="4713238" cy="1043657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11" name="Shape 8"/>
          <p:cNvSpPr/>
          <p:nvPr/>
        </p:nvSpPr>
        <p:spPr>
          <a:xfrm>
            <a:off x="500881" y="3685356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2A1999"/>
          </a:solidFill>
          <a:ln/>
        </p:spPr>
      </p:sp>
      <p:sp>
        <p:nvSpPr>
          <p:cNvPr id="12" name="Text 9"/>
          <p:cNvSpPr/>
          <p:nvPr/>
        </p:nvSpPr>
        <p:spPr>
          <a:xfrm>
            <a:off x="642640" y="3827115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Kanban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4133627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workflow management with continuous delivery and WIP limits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60998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520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C — Methodologies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122336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Waterfall &amp; Other Frameworks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202071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Waterfall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383929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linear, sequential approach where each phase must be completed before the next begins. BAs gather all requirements upfront, making it ideal for projects with stable, well-defined scopes.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418731"/>
            <a:ext cx="3902943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→ Design → Implementation → Testing → Deployment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regulated industries or fixed-scope contracts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7605" y="1878955"/>
            <a:ext cx="4107135" cy="2319338"/>
          </a:xfrm>
          <a:prstGeom prst="roundRect">
            <a:avLst>
              <a:gd name="adj" fmla="val 4401"/>
            </a:avLst>
          </a:prstGeom>
          <a:solidFill>
            <a:srgbClr val="2B0AFF"/>
          </a:solidFill>
          <a:ln/>
        </p:spPr>
      </p:sp>
      <p:sp>
        <p:nvSpPr>
          <p:cNvPr id="8" name="Text 6"/>
          <p:cNvSpPr/>
          <p:nvPr/>
        </p:nvSpPr>
        <p:spPr>
          <a:xfrm>
            <a:off x="4789363" y="202071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 to Use Which?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383929"/>
            <a:ext cx="3823618" cy="1615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Agile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when requirements are expected to change and fast feedback is needed.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Waterfall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when the scope is clear, stable, and documentation-heavy.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organizations use a </a:t>
            </a: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hybrid approach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blending both methodologies.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564571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D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96119" y="51472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Stakeholder Management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9121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537743"/>
            <a:ext cx="398941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management is the practice of </a:t>
            </a:r>
            <a:r>
              <a:rPr lang="en-US" sz="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identifying, engaging, and aligning</a:t>
            </a: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everyone who has an interest in a project. BAs must balance competing priorities, manage expectations, and ensure all voices are heard throughout the project lifecycle.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3232" y="2832720"/>
            <a:ext cx="3989412" cy="269230"/>
          </a:xfrm>
          <a:prstGeom prst="roundRect">
            <a:avLst>
              <a:gd name="adj" fmla="val 11058"/>
            </a:avLst>
          </a:prstGeom>
          <a:solidFill>
            <a:srgbClr val="11008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2921273"/>
            <a:ext cx="88553" cy="70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3469" y="2882280"/>
            <a:ext cx="368833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stakeholder management reduces scope creep, builds trust, and leads to solutions that truly meet business needs.</a:t>
            </a:r>
            <a:endParaRPr lang="en-US" sz="550" dirty="0"/>
          </a:p>
        </p:txBody>
      </p:sp>
    </p:spTree>
    <p:extLst>
      <p:ext uri="{BB962C8B-B14F-4D97-AF65-F5344CB8AC3E}">
        <p14:creationId xmlns:p14="http://schemas.microsoft.com/office/powerpoint/2010/main" val="1950131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970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76214"/>
            <a:ext cx="4004965" cy="1487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3508" y="1482551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1943174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 = Business Bridge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 translate business needs into technical solutions, connecting stakeholders and development teams.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376214"/>
            <a:ext cx="4005039" cy="14879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0232" y="1482551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803651" y="1943174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Skills Are Interconnected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Communication, analytical thinking, and problem-solving work together — not in isolation.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4879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13508" y="311221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56927" y="3572842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 Matters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387935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Agile and Waterfall each have strengths — choose based on project context and organizational culture.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4879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60232" y="311221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803651" y="3572842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Stakeholders Drive Success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387935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Engaging stakeholders early and often ensures solutions deliver real business value.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45324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2969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vs. Information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8528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journey from raw facts to meaningful insight — the foundation of every smart decision in business and technology.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98378"/>
            <a:ext cx="1776189" cy="215354"/>
          </a:xfrm>
          <a:prstGeom prst="roundRect">
            <a:avLst>
              <a:gd name="adj" fmla="val 22119"/>
            </a:avLst>
          </a:prstGeom>
          <a:solidFill>
            <a:srgbClr val="0A004D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140869"/>
            <a:ext cx="206327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FUNDAMENTALS · 2 UNITS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737208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8785"/>
            <a:ext cx="337245" cy="131266"/>
          </a:xfrm>
          <a:prstGeom prst="roundRect">
            <a:avLst>
              <a:gd name="adj" fmla="val 22113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7911" y="424681"/>
            <a:ext cx="690860" cy="79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A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51036"/>
            <a:ext cx="815176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Raw Data?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59048"/>
            <a:ext cx="5224835" cy="2938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36456" y="2046163"/>
            <a:ext cx="2716113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</a:t>
            </a:r>
            <a:r>
              <a:rPr lang="en-US" sz="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refers to unprocessed, unorganized facts and figures collected from the real world. On its own, data has no meaning or context.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936456" y="2438846"/>
            <a:ext cx="2716113" cy="360164"/>
          </a:xfrm>
          <a:prstGeom prst="roundRect">
            <a:avLst>
              <a:gd name="adj" fmla="val 10074"/>
            </a:avLst>
          </a:prstGeom>
          <a:solidFill>
            <a:srgbClr val="11008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777" y="2556942"/>
            <a:ext cx="107975" cy="86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072" y="2507754"/>
            <a:ext cx="2349178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alone cannot guide action — it must be processed first.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496119" y="4016276"/>
            <a:ext cx="8151763" cy="728439"/>
          </a:xfrm>
          <a:prstGeom prst="roundRect">
            <a:avLst>
              <a:gd name="adj" fmla="val 4981"/>
            </a:avLst>
          </a:prstGeom>
          <a:solidFill>
            <a:srgbClr val="272525"/>
          </a:solidFill>
          <a:ln w="9525">
            <a:solidFill>
              <a:srgbClr val="2A199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1964" y="4112121"/>
            <a:ext cx="796007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91964" y="4278585"/>
            <a:ext cx="7960072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readings: 98, 101, 97</a:t>
            </a:r>
            <a:endParaRPr lang="en-US" sz="650" dirty="0"/>
          </a:p>
          <a:p>
            <a:pPr marL="132080" indent="-132080" algn="l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numbers: 450, 320, 510</a:t>
            </a:r>
            <a:endParaRPr lang="en-US" sz="650" dirty="0"/>
          </a:p>
          <a:p>
            <a:pPr marL="132080" indent="-132080" algn="l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responses: Yes, No, Maybe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16490016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4171"/>
            <a:ext cx="415305" cy="161479"/>
          </a:xfrm>
          <a:prstGeom prst="roundRect">
            <a:avLst>
              <a:gd name="adj" fmla="val 22124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9891" y="426021"/>
            <a:ext cx="744959" cy="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87499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Information?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96119" y="2251546"/>
            <a:ext cx="2684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Data to Meaning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6119" y="2497336"/>
            <a:ext cx="2684487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</a:t>
            </a: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data that has been processed, organized, or structured in a way that gives it meaning and relevance for a specific purpose.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776" y="1129010"/>
            <a:ext cx="5207794" cy="292938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4223445"/>
            <a:ext cx="2665065" cy="5400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57" y="4237732"/>
            <a:ext cx="251593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30957" y="4451598"/>
            <a:ext cx="251593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placed in a situation that explains </a:t>
            </a:r>
            <a:r>
              <a:rPr lang="en-US" sz="80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</a:t>
            </a: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represents.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2249" y="4223445"/>
            <a:ext cx="2665140" cy="5400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81375" y="4237732"/>
            <a:ext cx="251601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Relevance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381375" y="4451598"/>
            <a:ext cx="251601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answers a question or supports a decision.</a:t>
            </a:r>
            <a:endParaRPr lang="en-US" sz="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742" y="4223445"/>
            <a:ext cx="2665140" cy="54009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31868" y="4237732"/>
            <a:ext cx="251601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131868" y="4451598"/>
            <a:ext cx="251601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Organized formats like charts, reports, and summaries.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94130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276597" cy="107603"/>
          </a:xfrm>
          <a:prstGeom prst="roundRect">
            <a:avLst>
              <a:gd name="adj" fmla="val 22134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648816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A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vs. Information: Key Differences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86185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94079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of data as ingredients in a kitchen — useful, but not yet a meal. Information is the prepared dish: organized, contextual, and ready to serve a purpose.</a:t>
            </a:r>
            <a:endParaRPr lang="en-US" sz="550" dirty="0"/>
          </a:p>
        </p:txBody>
      </p:sp>
    </p:spTree>
    <p:extLst>
      <p:ext uri="{BB962C8B-B14F-4D97-AF65-F5344CB8AC3E}">
        <p14:creationId xmlns:p14="http://schemas.microsoft.com/office/powerpoint/2010/main" val="3577503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546175"/>
            <a:ext cx="54947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10174" y="1588666"/>
            <a:ext cx="8365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B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81823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Transformation Process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91680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useful insight in business or technology follows a predictable path — from raw observation to structured understanding to actionable wisdom.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59095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7743"/>
            <a:ext cx="541065" cy="212006"/>
          </a:xfrm>
          <a:prstGeom prst="roundRect">
            <a:avLst>
              <a:gd name="adj" fmla="val 22117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9834" y="439564"/>
            <a:ext cx="83083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64666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→ Information → Knowledge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306785"/>
            <a:ext cx="4787801" cy="28415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10481" y="3489241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81" y="3489241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486226" y="3489241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02844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hierarchy is known as the </a:t>
            </a: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DIK Pyramid</a:t>
            </a: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Each stage adds value: data becomes useful when processed, and information becomes powerful when understood and applied.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64630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89137"/>
            <a:ext cx="54947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231627"/>
            <a:ext cx="8365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6119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Example: Retail Sales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16782"/>
            <a:ext cx="2717229" cy="567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825576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Data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3132088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transactions: $45, $120, $38, $200 recorded at checkout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2116782"/>
            <a:ext cx="2717229" cy="5670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55107" y="2825576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Information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355107" y="3132088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sales report showing a 20% increase in electronics vs. last month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2116782"/>
            <a:ext cx="2717229" cy="5670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72336" y="2825576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Knowledge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72336" y="3132088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decides to increase electronics inventory before the holiday season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09503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427"/>
            <a:ext cx="374526" cy="144735"/>
          </a:xfrm>
          <a:prstGeom prst="roundRect">
            <a:avLst>
              <a:gd name="adj" fmla="val 22112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3269" y="422002"/>
            <a:ext cx="717426" cy="8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D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63761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Information Has Value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29370"/>
            <a:ext cx="5217319" cy="29347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0521" y="2305645"/>
            <a:ext cx="2702049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is a </a:t>
            </a:r>
            <a:r>
              <a:rPr lang="en-US" sz="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asset</a:t>
            </a: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Organizations that transform data into reliable information gain a competitive edge.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96119" y="4108028"/>
            <a:ext cx="2674590" cy="642045"/>
          </a:xfrm>
          <a:prstGeom prst="roundRect">
            <a:avLst>
              <a:gd name="adj" fmla="val 6231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6131" y="4208041"/>
            <a:ext cx="247456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Reduces Uncertainty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6131" y="4395267"/>
            <a:ext cx="2474565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information narrows the gap between guesswork and confident action.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234705" y="4108028"/>
            <a:ext cx="2674590" cy="642045"/>
          </a:xfrm>
          <a:prstGeom prst="roundRect">
            <a:avLst>
              <a:gd name="adj" fmla="val 6231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4717" y="4208041"/>
            <a:ext cx="247456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Saves Time &amp; Cost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34717" y="4395267"/>
            <a:ext cx="2474565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information prevents costly mistakes and redundant effort.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973291" y="4108028"/>
            <a:ext cx="2674590" cy="642045"/>
          </a:xfrm>
          <a:prstGeom prst="roundRect">
            <a:avLst>
              <a:gd name="adj" fmla="val 6231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73304" y="4208041"/>
            <a:ext cx="247456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Drives Innovation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73304" y="4395267"/>
            <a:ext cx="2474565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in information reveal opportunities that raw data hides.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485997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278383" cy="107603"/>
          </a:xfrm>
          <a:prstGeom prst="roundRect">
            <a:avLst>
              <a:gd name="adj" fmla="val 22134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650602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D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 in Decision Making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179070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Decision-Making Cycle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1941240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496119" y="2052117"/>
            <a:ext cx="3989412" cy="9525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210658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the Problem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96119" y="2252737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what decision needs to be made.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496119" y="2426345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496119" y="2537222"/>
            <a:ext cx="3989412" cy="9525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2591693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Gather Information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96119" y="2737842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and process relevant data into usable form.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496119" y="2911450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96119" y="3022327"/>
            <a:ext cx="3989412" cy="9525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6119" y="307679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 Options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6119" y="3222947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alternatives using the information available.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496119" y="3396555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496119" y="3507432"/>
            <a:ext cx="3989412" cy="9525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356190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 &amp; Review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96119" y="3708053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decision and measure outcomes.</a:t>
            </a:r>
            <a:endParaRPr lang="en-US" sz="5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04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9203"/>
            <a:ext cx="4722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2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861045"/>
            <a:ext cx="4722763" cy="9085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93727" y="940743"/>
            <a:ext cx="12754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16669" y="1286321"/>
            <a:ext cx="448166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is raw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16669" y="1500188"/>
            <a:ext cx="448166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Unprocessed facts with no inherent meaning on their own.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849264"/>
            <a:ext cx="4722763" cy="9085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93727" y="1928961"/>
            <a:ext cx="12754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616669" y="2274540"/>
            <a:ext cx="448166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 is processed data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16669" y="2488406"/>
            <a:ext cx="448166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Organized, contextual, and relevant to a specific purpose.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837483"/>
            <a:ext cx="4722763" cy="9085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93727" y="2917180"/>
            <a:ext cx="12754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6669" y="3262759"/>
            <a:ext cx="448166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Knowledge is applied insight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16669" y="3476625"/>
            <a:ext cx="448166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understood and used to make decisions and take action.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825701"/>
            <a:ext cx="4722763" cy="90852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793727" y="3905399"/>
            <a:ext cx="12754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616669" y="4250978"/>
            <a:ext cx="448166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Quality information drives better decisions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16669" y="4464844"/>
            <a:ext cx="448166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more accurate and timely the information, the stronger the outcome.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33974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Overview of Data-Driven Decision Making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organizations use data to make smarter, faster, and more confident decisions — from principles to practice.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19909"/>
            <a:ext cx="1232743" cy="215354"/>
          </a:xfrm>
          <a:prstGeom prst="roundRect">
            <a:avLst>
              <a:gd name="adj" fmla="val 22119"/>
            </a:avLst>
          </a:prstGeom>
          <a:solidFill>
            <a:srgbClr val="0A004D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362399"/>
            <a:ext cx="15198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FUNDAMENTALS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99704" y="3319909"/>
            <a:ext cx="130075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2B0A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84759" y="3362399"/>
            <a:ext cx="158784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SYSTEMS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763626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3526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You'll Learn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13416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Course Roadmap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99727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219176"/>
            <a:ext cx="4004965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328118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634630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foundations of data-driven thinking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42842" y="199727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219176"/>
            <a:ext cx="4005039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0" name="Text 8"/>
          <p:cNvSpPr/>
          <p:nvPr/>
        </p:nvSpPr>
        <p:spPr>
          <a:xfrm>
            <a:off x="4642842" y="2328118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2842" y="2634630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data outperforms intuition alone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0946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331369"/>
            <a:ext cx="4004965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440311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 Steps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74682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approach from question to 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2842" y="310946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331369"/>
            <a:ext cx="4005039" cy="1905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3440311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2842" y="3746822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Pitfalls to recognize and avoid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317016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7876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Data-Driven Decision Making?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077343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decision making (DDDM) is the practice of basing strategic and operational choices on </a:t>
            </a: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analyzed data</a:t>
            </a: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rather than intuition, tradition, or guesswork. It transforms raw information into actionable insight — giving teams a factual foundation for every decision they make.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70883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11008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571652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548063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DDDM is not about replacing human judgment — it's about </a:t>
            </a: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empowering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with evidence.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66956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750"/>
            <a:ext cx="8151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96119" y="639366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Principles of Data-Driven Decision Making</a:t>
            </a:r>
            <a:endParaRPr lang="en-US" sz="2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49809"/>
            <a:ext cx="5204073" cy="292722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5077" y="1212577"/>
            <a:ext cx="2677492" cy="6672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57243" y="1337593"/>
            <a:ext cx="237031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 With a Clear Question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157243" y="1597075"/>
            <a:ext cx="237031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problem before collecting data.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5077" y="1966317"/>
            <a:ext cx="2677492" cy="82502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57243" y="2091333"/>
            <a:ext cx="237031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Reliable Data Sources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157243" y="2350815"/>
            <a:ext cx="237031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Trustworthy data is the foundation of sound decisions.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5077" y="2877815"/>
            <a:ext cx="2677492" cy="82502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57243" y="3002831"/>
            <a:ext cx="237031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 Objectively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6157243" y="3262312"/>
            <a:ext cx="237031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the data speak — avoid cherry-picking results.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5077" y="3789313"/>
            <a:ext cx="2677492" cy="82502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57243" y="3914329"/>
            <a:ext cx="237031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 and Iterate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157243" y="4173810"/>
            <a:ext cx="237031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lead to actions, which generate new data.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9283928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74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B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9190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 of Using Data for Decisions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496119" y="1347490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" y="1494011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610916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06104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Greater Accuracy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36755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errors caused by assumptions and bias.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2842" y="1347490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89363" y="1494011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610916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9363" y="206104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Decisions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89363" y="2367558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data enables quicker, more confident responses.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6119" y="3109466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2640" y="3255987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372892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640" y="382302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Performance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2640" y="4129534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that use data outperform peers on key metrics.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42842" y="3109466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89363" y="3255987"/>
            <a:ext cx="425276" cy="425276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372892"/>
            <a:ext cx="191319" cy="1913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89363" y="382302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Accountability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89363" y="4129534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creates a transparent record of why decisions were made.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034483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0693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B — Impact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81885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Data-Driven Organizations Lead the Way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33910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601986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consistently shows that organizations embedding data into their decision culture significantly outperform those relying on intuition alone — across productivity, growth, and customer outcomes.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68712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11008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288376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3167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insight: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Data-driven companies are </a:t>
            </a:r>
            <a:r>
              <a:rPr lang="en-US" sz="1100" b="1" dirty="0">
                <a:solidFill>
                  <a:srgbClr val="2B0A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5x more likely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make faster decisions than competitors.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35507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641"/>
            <a:ext cx="815176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96119" y="580132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Steps in the Data-Driven Decision Process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08311"/>
            <a:ext cx="8151763" cy="3521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41329" y="362423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Collect Data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441329" y="3907390"/>
            <a:ext cx="1210397" cy="3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relevant sources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49316" y="362423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549316" y="3907390"/>
            <a:ext cx="1210397" cy="3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 results and insights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1193" y="1326034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Define Problem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1193" y="1829642"/>
            <a:ext cx="1210397" cy="3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 objectives and scope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53279" y="1326034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Decide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53279" y="160919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action based on evidence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14612" y="1326034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&amp; Prepare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14612" y="1829642"/>
            <a:ext cx="1210397" cy="3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and transform data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6119" y="4611812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step builds on the last. Skipping steps — especially data cleaning — is one of the most common causes of poor outcomes in DDDM.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839386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036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C — Deep Dive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142852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Steps Explained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84115"/>
            <a:ext cx="838200" cy="5179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779291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Define the Problem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085802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a specific, answerable question. Vague goals produce vague results.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084115"/>
            <a:ext cx="838200" cy="5179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298" y="277929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&amp; Prepare Data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78298" y="3085802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duplicates, fix errors, and standardize formats before analysis.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084115"/>
            <a:ext cx="838200" cy="5179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553" y="277929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 &amp; Interpret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60553" y="3085802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statistical tools and visualizations to uncover patterns and insights.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084115"/>
            <a:ext cx="838200" cy="5179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807" y="277929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 &amp; Iterate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742807" y="3085802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outcomes after acting. Use new data to refine future decisions.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568591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Section D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96119" y="51472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and Pitfalls in Data-Driven Approaches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9121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619152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well-intentioned data initiatives can fail when these common pitfalls are overlooked. Building a strong data culture means addressing both </a:t>
            </a:r>
            <a:r>
              <a:rPr lang="en-US" sz="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</a:t>
            </a: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</a:t>
            </a: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challenges.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3232" y="2829074"/>
            <a:ext cx="3989412" cy="191393"/>
          </a:xfrm>
          <a:prstGeom prst="roundRect">
            <a:avLst>
              <a:gd name="adj" fmla="val 15555"/>
            </a:avLst>
          </a:prstGeom>
          <a:solidFill>
            <a:srgbClr val="4B3F0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2917627"/>
            <a:ext cx="88553" cy="70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3469" y="2878634"/>
            <a:ext cx="414553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Remember:</a:t>
            </a:r>
            <a:r>
              <a:rPr lang="en-US" sz="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Bad data + good analysis = bad decisions. Data quality always comes first.</a:t>
            </a:r>
            <a:endParaRPr lang="en-US" sz="550" dirty="0"/>
          </a:p>
        </p:txBody>
      </p:sp>
    </p:spTree>
    <p:extLst>
      <p:ext uri="{BB962C8B-B14F-4D97-AF65-F5344CB8AC3E}">
        <p14:creationId xmlns:p14="http://schemas.microsoft.com/office/powerpoint/2010/main" val="1732187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9455"/>
            <a:ext cx="4722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96119" y="988516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1552" y="1123950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Start With a Question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1552" y="1400324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data effort should begin with a clear, specific problem to solve.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6119" y="1857077"/>
            <a:ext cx="4722763" cy="948928"/>
          </a:xfrm>
          <a:prstGeom prst="roundRect">
            <a:avLst>
              <a:gd name="adj" fmla="val 578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1552" y="1992511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Trust the Process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1552" y="2268885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the six-step cycle — define, collect, clean, analyze, decide, iterate.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2926482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1552" y="3061915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Watch for Pitfalls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1552" y="3338289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data quality, bias, and low data literacy are the biggest risks.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795043"/>
            <a:ext cx="4722763" cy="948928"/>
          </a:xfrm>
          <a:prstGeom prst="roundRect">
            <a:avLst>
              <a:gd name="adj" fmla="val 5784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552" y="3930476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2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Data + Judgment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1552" y="4206850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best decisions combine data insights with human experience and context.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089582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238696"/>
            <a:ext cx="4634954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IT in Business: Real-Life Lessons and Strategic Success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2755999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leading organizations transformed technology from a cost center into a competitive weapon — and what you can learn from their journeys.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0023" y="3670250"/>
            <a:ext cx="1252165" cy="234479"/>
          </a:xfrm>
          <a:prstGeom prst="roundRect">
            <a:avLst>
              <a:gd name="adj" fmla="val 78969"/>
            </a:avLst>
          </a:prstGeom>
          <a:solidFill>
            <a:srgbClr val="004D36"/>
          </a:solidFill>
          <a:ln/>
        </p:spPr>
      </p:sp>
      <p:sp>
        <p:nvSpPr>
          <p:cNvPr id="6" name="Text 3"/>
          <p:cNvSpPr/>
          <p:nvPr/>
        </p:nvSpPr>
        <p:spPr>
          <a:xfrm>
            <a:off x="632594" y="3716536"/>
            <a:ext cx="152422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GOVERNANCE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69281" y="3670250"/>
            <a:ext cx="892746" cy="234479"/>
          </a:xfrm>
          <a:prstGeom prst="roundRect">
            <a:avLst>
              <a:gd name="adj" fmla="val 78969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1852" y="3716536"/>
            <a:ext cx="116480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ETHICS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39120" y="3670250"/>
            <a:ext cx="887685" cy="234479"/>
          </a:xfrm>
          <a:prstGeom prst="roundRect">
            <a:avLst>
              <a:gd name="adj" fmla="val 78969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31691" y="3716536"/>
            <a:ext cx="115974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 STRATEGY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6247405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646881"/>
            <a:ext cx="4634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Evolution of IT Strategy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540023" y="1306934"/>
            <a:ext cx="2240310" cy="1888034"/>
          </a:xfrm>
          <a:prstGeom prst="roundRect">
            <a:avLst>
              <a:gd name="adj" fmla="val 12259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333" y="1480245"/>
            <a:ext cx="18936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Beyond Cost Center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3333" y="1787128"/>
            <a:ext cx="1893689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 is no longer just a utility — it is a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 weapon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that shapes competitive positioning and drives business outcomes.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34593" y="1306934"/>
            <a:ext cx="2240384" cy="1888034"/>
          </a:xfrm>
          <a:prstGeom prst="roundRect">
            <a:avLst>
              <a:gd name="adj" fmla="val 12259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7903" y="1480245"/>
            <a:ext cx="18937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"I" is the Asset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107903" y="1787128"/>
            <a:ext cx="1893763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Information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IT is the true competitive asset. Data quality, governance, and accessibility determine organizational intelligence.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0023" y="3349228"/>
            <a:ext cx="4634954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333" y="3522538"/>
            <a:ext cx="42883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Management Leadership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13333" y="3829422"/>
            <a:ext cx="428833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Business-smart organizations are built when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leaders drive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IT strategy — not when IT operates in isolation from business goals.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207761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130573"/>
            <a:ext cx="5124152" cy="2882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04247" y="643607"/>
            <a:ext cx="771004" cy="208806"/>
          </a:xfrm>
          <a:prstGeom prst="roundRect">
            <a:avLst>
              <a:gd name="adj" fmla="val 78979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6086698" y="684833"/>
            <a:ext cx="1063303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CASE STUDY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004247" y="901303"/>
            <a:ext cx="2604418" cy="763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Frito-Lay Fortress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04247" y="1787128"/>
            <a:ext cx="2604418" cy="14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Frito-Lay sustained </a:t>
            </a:r>
            <a:r>
              <a:rPr lang="en-US" sz="10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50% market share</a:t>
            </a: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through a massive field sales army empowered by technology. A </a:t>
            </a:r>
            <a:r>
              <a:rPr lang="en-US" sz="10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$140M handheld tech investment</a:t>
            </a: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transformed how salespeople operated in the field — increasing productivity and customer engagement.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04247" y="3379663"/>
            <a:ext cx="2604418" cy="1120229"/>
          </a:xfrm>
          <a:prstGeom prst="roundRect">
            <a:avLst>
              <a:gd name="adj" fmla="val 18402"/>
            </a:avLst>
          </a:prstGeom>
          <a:solidFill>
            <a:srgbClr val="00805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616" y="3588246"/>
            <a:ext cx="171748" cy="137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50732" y="3524101"/>
            <a:ext cx="2020565" cy="8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CEO Mandate: Increase revenue at constant cost by fundamentally changing management processes — not just buying new tools.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51527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FedEx vs. UPS: First-Mover vs. Follower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739825"/>
            <a:ext cx="3937918" cy="39379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70822" y="2545259"/>
            <a:ext cx="39379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Two Strategies, One Investment Level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70822" y="2690961"/>
            <a:ext cx="3937918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Both companies invested roughly </a:t>
            </a:r>
            <a:r>
              <a:rPr lang="en-US" sz="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$1 billion annually</a:t>
            </a: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IT, yet achieved different outcomes. FedEx led with innovation; UPS followed with efficiency. The lesson: </a:t>
            </a:r>
            <a:r>
              <a:rPr lang="en-US" sz="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strategy matters more than spend.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7835193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431676"/>
            <a:ext cx="4634954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CEMEX: Digital Innovation in a Commodity Industry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9023" y="1358950"/>
            <a:ext cx="4634954" cy="11738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99260" y="1512987"/>
            <a:ext cx="425068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199260" y="1771352"/>
            <a:ext cx="4250680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Delivering wet concrete within </a:t>
            </a:r>
            <a:r>
              <a:rPr lang="en-US" sz="10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90-minute windows</a:t>
            </a: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chaotic, unpredictable urban environments — where delays mean wasted product and lost revenue.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9023" y="2650927"/>
            <a:ext cx="4634954" cy="9714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99260" y="2804964"/>
            <a:ext cx="425068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199260" y="3063329"/>
            <a:ext cx="4250680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Satellite systems and </a:t>
            </a:r>
            <a:r>
              <a:rPr lang="en-US" sz="10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GPS-enabled rerouting</a:t>
            </a: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allowed dispatchers to redirect trucks in real-time based on live site conditions and traffic.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9023" y="3740423"/>
            <a:ext cx="4634954" cy="9714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99260" y="3894460"/>
            <a:ext cx="425068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Payoff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199260" y="4152826"/>
            <a:ext cx="4250680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Delivery windows shrank from </a:t>
            </a:r>
            <a:r>
              <a:rPr lang="en-US" sz="10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 hours to 20 minutes</a:t>
            </a: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 </a:t>
            </a:r>
            <a:r>
              <a:rPr lang="en-US" sz="10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98% reliability</a:t>
            </a: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a commodity business transformed by digital intelligence.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175479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Cost of Information Quality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0023" y="2481635"/>
            <a:ext cx="39379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Westpac Financial: A Cautionary Tale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40023" y="2627337"/>
            <a:ext cx="3937918" cy="312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Failed information standards led to </a:t>
            </a:r>
            <a:r>
              <a:rPr lang="en-US" sz="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conflicting customer messages</a:t>
            </a: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across channels — eroding trust and creating operational chaos.</a:t>
            </a:r>
            <a:endParaRPr lang="en-US" sz="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Low-quality data stems from four root causes:</a:t>
            </a:r>
            <a:endParaRPr lang="en-US" sz="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822" y="739825"/>
            <a:ext cx="3937918" cy="393791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896" y="4768304"/>
            <a:ext cx="115714" cy="1157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0649" y="4764509"/>
            <a:ext cx="3757240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Intentional user errors</a:t>
            </a: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during data entry</a:t>
            </a:r>
            <a:endParaRPr lang="en-US" sz="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4983" y="4768304"/>
            <a:ext cx="115714" cy="1157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46737" y="4764509"/>
            <a:ext cx="3757240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Mismatched system formats</a:t>
            </a: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across platforms</a:t>
            </a:r>
            <a:endParaRPr lang="en-US" sz="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896" y="5080620"/>
            <a:ext cx="115714" cy="1157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0649" y="5076825"/>
            <a:ext cx="3757240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Operator accidents</a:t>
            </a: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process gaps</a:t>
            </a:r>
            <a:endParaRPr lang="en-US" sz="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4983" y="5080620"/>
            <a:ext cx="115714" cy="11571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46737" y="5076825"/>
            <a:ext cx="3757240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Faulty third-party inputs</a:t>
            </a: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from external sources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42485477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438373"/>
            <a:ext cx="4634954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When IT Projects Fail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23" y="1030188"/>
            <a:ext cx="2251918" cy="20999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0629" y="1136824"/>
            <a:ext cx="170631" cy="213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701278" y="1599158"/>
            <a:ext cx="1929408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Hershey's ERP Disaster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01278" y="1875383"/>
            <a:ext cx="1929408" cy="1093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rushed ERP implementation caused </a:t>
            </a: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significant financial loss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during peak season — a textbook case of prioritizing timelines over readiness.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3059" y="1030188"/>
            <a:ext cx="2251918" cy="20999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63665" y="1136824"/>
            <a:ext cx="170631" cy="213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3084314" y="1599158"/>
            <a:ext cx="1929408" cy="395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VWoA Alignment Challenges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084314" y="2072953"/>
            <a:ext cx="1929408" cy="874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Supply flow projects failed without </a:t>
            </a: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proper prioritization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cross-functional alignment between IT and business units.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3261271"/>
            <a:ext cx="4634954" cy="14438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72147" y="3367906"/>
            <a:ext cx="170631" cy="213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701278" y="3830241"/>
            <a:ext cx="4312444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Common Denominator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01278" y="4106466"/>
            <a:ext cx="4312444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 systems deliver </a:t>
            </a: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little value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unless coupled with </a:t>
            </a: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redesigned business processes</a:t>
            </a: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Technology alone cannot fix broken workflows.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792170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34057"/>
            <a:ext cx="8063954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Managing the IT Portfolio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066726"/>
            <a:ext cx="3876154" cy="27900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2586" y="1053554"/>
            <a:ext cx="3876154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80-20 Rule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32586" y="1336849"/>
            <a:ext cx="3876154" cy="5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organizations spend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80% of IT budget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on maintaining existing systems and only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20% on innovation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Shifting this balance is a strategic imperative.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735" y="4080495"/>
            <a:ext cx="3980111" cy="6432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367" y="4094783"/>
            <a:ext cx="3809479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CIO in the Boardroom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96367" y="4335735"/>
            <a:ext cx="3809479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Governance requires the CIO to be part of the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management team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not a back-office function.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3792" y="4080495"/>
            <a:ext cx="3980185" cy="6432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94424" y="4094783"/>
            <a:ext cx="3809554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Avoid "IT Out and Back"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794424" y="4335735"/>
            <a:ext cx="3809554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MONY insurance experience shows the danger of outsourcing core IT without retaining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 oversight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193470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893564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Strategic Frameworks for Success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630784"/>
            <a:ext cx="1484412" cy="9173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023" y="2741042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Val IT &amp; CoBIT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0023" y="3047926"/>
            <a:ext cx="255939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Industry frameworks that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align IT investments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 business goals, ensuring every rupee spent drives measurable value.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301" y="1630784"/>
            <a:ext cx="1484412" cy="9173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2301" y="2741042"/>
            <a:ext cx="255939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Technology Investment Management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92301" y="3262238"/>
            <a:ext cx="255939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Assess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flexibility, complexity costs, and vendor viability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before committing to any technology platform or partnership.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580" y="1630784"/>
            <a:ext cx="1484412" cy="9173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4580" y="2741042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Business-Led Accountability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4580" y="3047926"/>
            <a:ext cx="2559397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leaders — not IT — must </a:t>
            </a: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own the organizational changes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required when new systems are deployed.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12817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3678</Words>
  <Application>Microsoft Office PowerPoint</Application>
  <PresentationFormat>On-screen Show (16:9)</PresentationFormat>
  <Paragraphs>538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Twemoji Mozilla</vt:lpstr>
      <vt:lpstr>Barlow</vt:lpstr>
      <vt:lpstr>Inter</vt:lpstr>
      <vt:lpstr>Barlow Bold</vt:lpstr>
      <vt:lpstr>Inter Light</vt:lpstr>
      <vt:lpstr>Inter Bold</vt:lpstr>
      <vt:lpstr>Arial</vt:lpstr>
      <vt:lpstr>Spline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Chandni Saha</dc:creator>
  <cp:lastModifiedBy>sahachandni05@gmail.com</cp:lastModifiedBy>
  <cp:revision>3</cp:revision>
  <dcterms:created xsi:type="dcterms:W3CDTF">2026-07-23T08:21:04Z</dcterms:created>
  <dcterms:modified xsi:type="dcterms:W3CDTF">2026-07-27T09:26:37Z</dcterms:modified>
</cp:coreProperties>
</file>